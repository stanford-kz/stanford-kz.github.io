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1ba0f22074b8f" /><Relationship Type="http://schemas.openxmlformats.org/officeDocument/2006/relationships/extended-properties" Target="/docProps/app.xml" Id="R55f9dd7c70ca4cfc" /><Relationship Type="http://schemas.openxmlformats.org/officeDocument/2006/relationships/officeDocument" Target="/ppt/presentation.xml" Id="R285b9af44d4441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64d777ebb64c89"/>
  </p:sldMasterIdLst>
  <p:notesMasterIdLst>
    <p:notesMasterId xmlns:r="http://schemas.openxmlformats.org/officeDocument/2006/relationships" r:id="Rdd4869491c154ed0"/>
  </p:notesMasterIdLst>
  <p:sldIdLst>
    <p:sldId xmlns:r="http://schemas.openxmlformats.org/officeDocument/2006/relationships" id="256" r:id="R8cbf93ea7c614943"/>
    <p:sldId xmlns:r="http://schemas.openxmlformats.org/officeDocument/2006/relationships" id="257" r:id="R8354e3e8d0434233"/>
    <p:sldId xmlns:r="http://schemas.openxmlformats.org/officeDocument/2006/relationships" id="258" r:id="Ra51d60ed0c1d4320"/>
    <p:sldId xmlns:r="http://schemas.openxmlformats.org/officeDocument/2006/relationships" id="259" r:id="R49497ee9f6b24e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b39c95782a4272" /><Relationship Type="http://schemas.openxmlformats.org/officeDocument/2006/relationships/slideMaster" Target="/ppt/slideMasters/slideMaster1.xml" Id="R8564d777ebb64c89" /><Relationship Type="http://schemas.openxmlformats.org/officeDocument/2006/relationships/notesMaster" Target="/ppt/notesMasters/notesMaster1.xml" Id="Rdd4869491c154ed0" /><Relationship Type="http://schemas.openxmlformats.org/officeDocument/2006/relationships/presProps" Target="/ppt/presProps.xml" Id="R7374c6eb55d545d0" /><Relationship Type="http://schemas.openxmlformats.org/officeDocument/2006/relationships/tableStyles" Target="/ppt/tableStyles.xml" Id="R543381b4f65b4922" /><Relationship Type="http://schemas.openxmlformats.org/officeDocument/2006/relationships/slide" Target="/ppt/slides/slide1.xml" Id="R8cbf93ea7c614943" /><Relationship Type="http://schemas.openxmlformats.org/officeDocument/2006/relationships/slide" Target="/ppt/slides/slide2.xml" Id="R8354e3e8d0434233" /><Relationship Type="http://schemas.openxmlformats.org/officeDocument/2006/relationships/slide" Target="/ppt/slides/slide3.xml" Id="Ra51d60ed0c1d4320" /><Relationship Type="http://schemas.openxmlformats.org/officeDocument/2006/relationships/slide" Target="/ppt/slides/slide4.xml" Id="R49497ee9f6b24e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82be8e08e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fda3d3d0847d1" /><Relationship Type="http://schemas.openxmlformats.org/officeDocument/2006/relationships/notesMaster" Target="/ppt/notesMasters/notesMaster1.xml" Id="Re86f14be2b32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ae370383604837" /><Relationship Type="http://schemas.openxmlformats.org/officeDocument/2006/relationships/notesMaster" Target="/ppt/notesMasters/notesMaster1.xml" Id="R16b6f1b28377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148a96a7b14068" /><Relationship Type="http://schemas.openxmlformats.org/officeDocument/2006/relationships/notesMaster" Target="/ppt/notesMasters/notesMaster1.xml" Id="R880fe9227af944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e9262cf2444b7" /><Relationship Type="http://schemas.openxmlformats.org/officeDocument/2006/relationships/notesMaster" Target="/ppt/notesMasters/notesMaster1.xml" Id="R895202000915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ABC Tutoring prototype static export, captured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Confirmed Dana requirements and implemented ABC Tutoring prototype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ABC Tutoring prototype booking confirmation, captured 2026-09-03.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activity from scripts/simulate-traffic.mjs, run 2026-09-03.</a:t>
            </a:r>
          </a:p>
          <a:p xmlns:a="http://schemas.openxmlformats.org/drawingml/2006/main">
            <a:r>
              <a:t>- PostHog Funnels: https://posthog.com/docs/product-analytics/funnels</a:t>
            </a:r>
          </a:p>
          <a:p xmlns:a="http://schemas.openxmlformats.org/drawingml/2006/main">
            <a:r>
              <a:t>- PostHog Dashboards: https://posthog.com/docs/product-analytics/dashboards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3fafafa3f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0af8316124f0b" /><Relationship Type="http://schemas.openxmlformats.org/officeDocument/2006/relationships/slideLayout" Target="/ppt/slideLayouts/slideLayout1.xml" Id="Rb1254b3a4a24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254b3a4a24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68ed75a6540a8" /><Relationship Type="http://schemas.openxmlformats.org/officeDocument/2006/relationships/image" Target="/ppt/media/image.jpeg" Id="R7f1e2ee2fc934e7c" /><Relationship Type="http://schemas.openxmlformats.org/officeDocument/2006/relationships/notesSlide" Target="/ppt/notesSlides/notesSlide1.xml" Id="Rf988b3f9749045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c006eeb754e8a" /><Relationship Type="http://schemas.openxmlformats.org/officeDocument/2006/relationships/image" Target="/ppt/media/image2.jpeg" Id="Ra10cc9076a6d4b46" /><Relationship Type="http://schemas.openxmlformats.org/officeDocument/2006/relationships/image" Target="/ppt/media/image3.jpeg" Id="R7fdf16e1f93c4c49" /><Relationship Type="http://schemas.openxmlformats.org/officeDocument/2006/relationships/image" Target="/ppt/media/image4.jpeg" Id="Re4412e1d009941e3" /><Relationship Type="http://schemas.openxmlformats.org/officeDocument/2006/relationships/notesSlide" Target="/ppt/notesSlides/notesSlide2.xml" Id="R36d1dc82150b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03b0db1d94e4c" /><Relationship Type="http://schemas.openxmlformats.org/officeDocument/2006/relationships/image" Target="/ppt/media/image5.jpeg" Id="R63551d3b2beb4bb9" /><Relationship Type="http://schemas.openxmlformats.org/officeDocument/2006/relationships/image" Target="/ppt/media/image6.jpeg" Id="Rf1fba74ff4ce4db8" /><Relationship Type="http://schemas.openxmlformats.org/officeDocument/2006/relationships/notesSlide" Target="/ppt/notesSlides/notesSlide3.xml" Id="R0cef60291f32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a58a65f164d96" /><Relationship Type="http://schemas.openxmlformats.org/officeDocument/2006/relationships/chart" Target="/ppt/slides/charts/chart1.xml" Id="R25ef4aaae7c34878" /><Relationship Type="http://schemas.openxmlformats.org/officeDocument/2006/relationships/notesSlide" Target="/ppt/notesSlides/notesSlide4.xml" Id="R8ea1c491252b418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Profile views</c:v>
          </c:tx>
          <c:spPr>
            <a:solidFill xmlns:a="http://schemas.openxmlformats.org/drawingml/2006/main">
              <a:srgbClr val="397A68"/>
            </a:solidFill>
          </c:spPr>
          <c:cat>
            <c:strLit>
              <c:ptCount val="4"/>
              <c:pt idx="0">
                <c:v>Maya</c:v>
              </c:pt>
              <c:pt idx="1">
                <c:v>Jordan</c:v>
              </c:pt>
              <c:pt idx="2">
                <c:v>Sofia</c:v>
              </c:pt>
              <c:pt idx="3">
                <c:v>Ethan</c:v>
              </c:pt>
            </c:strLit>
          </c:cat>
          <c:val>
            <c:numLit>
              <c:formatCode>General</c:formatCode>
              <c:ptCount val="4"/>
              <c:pt idx="0">
                <c:v>7</c:v>
              </c:pt>
              <c:pt idx="1">
                <c:v>5</c:v>
              </c:pt>
              <c:pt idx="2">
                <c:v>10</c:v>
              </c:pt>
              <c:pt idx="3">
                <c:v>3</c:v>
              </c:pt>
            </c:numLit>
          </c:val>
        </c:ser>
        <c:ser>
          <c:idx val="1"/>
          <c:order val="1"/>
          <c:tx>
            <c:v>Booking requests</c:v>
          </c:tx>
          <c:spPr>
            <a:solidFill xmlns:a="http://schemas.openxmlformats.org/drawingml/2006/main">
              <a:srgbClr val="E87958"/>
            </a:solidFill>
          </c:spPr>
          <c:cat>
            <c:strLit>
              <c:ptCount val="4"/>
              <c:pt idx="0">
                <c:v>Maya</c:v>
              </c:pt>
              <c:pt idx="1">
                <c:v>Jordan</c:v>
              </c:pt>
              <c:pt idx="2">
                <c:v>Sofia</c:v>
              </c:pt>
              <c:pt idx="3">
                <c:v>Ethan</c:v>
              </c:pt>
            </c:strLit>
          </c:cat>
          <c:val>
            <c:numLit>
              <c:formatCode>General</c:formatCode>
              <c:ptCount val="4"/>
              <c:pt idx="0">
                <c:v>4</c:v>
              </c:pt>
              <c:pt idx="1">
                <c:v>3</c:v>
              </c:pt>
              <c:pt idx="2">
                <c:v>4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2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1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E5D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DF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DF8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DF8"/>
    </a:solidFill>
    <a:ln xmlns:a="http://schemas.openxmlformats.org/drawingml/2006/main" w="0">
      <a:solidFill>
        <a:srgbClr val="FFFDF8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3BD86D2-30B9-4BD2-85D0-4E661A9B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975" b="1" spc="2">
                <a:solidFill>
                  <a:srgbClr val="397A68"/>
                </a:solidFill>
                <a:latin typeface="Arial"/>
                <a:ea typeface="Arial"/>
                <a:cs typeface="Arial"/>
              </a:rPr>
              <a:t>ABC TUTORING  /  FIRST-VERSION PROTOTYPE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DF32883-5AC2-417C-89C9-AA7A0612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simpler way for families to find the right tutor</a:t>
            </a:r>
          </a:p>
        </p:txBody>
      </p:sp>
      <p:sp>
        <p:nvSpPr>
          <p:cNvPr id="3" name="cover-body">
            <a:extLst xmlns:a="http://schemas.openxmlformats.org/drawingml/2006/main">
              <a:ext uri="{FF2B5EF4-FFF2-40B4-BE49-F238E27FC236}">
                <a16:creationId xmlns:a16="http://schemas.microsoft.com/office/drawing/2014/main" id="{99468EC5-21A7-4B6D-A6AB-D7FDEBD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707A"/>
                </a:solidFill>
                <a:latin typeface="Arial"/>
                <a:ea typeface="Arial"/>
                <a:cs typeface="Arial"/>
              </a:rPr>
              <a:t>Compare tutors. Choose a time. Request a match.</a:t>
            </a:r>
          </a:p>
        </p:txBody>
      </p:sp>
      <p:sp>
        <p:nvSpPr>
          <p:cNvPr id="4" name="cover-for">
            <a:extLst xmlns:a="http://schemas.openxmlformats.org/drawingml/2006/main">
              <a:ext uri="{FF2B5EF4-FFF2-40B4-BE49-F238E27FC236}">
                <a16:creationId xmlns:a16="http://schemas.microsoft.com/office/drawing/2014/main" id="{2838C28B-5CB2-4CCD-B7E5-EE7B35A0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879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7958"/>
                </a:solidFill>
                <a:latin typeface="Arial"/>
                <a:ea typeface="Arial"/>
                <a:cs typeface="Arial"/>
              </a:rPr>
              <a:t>Prepared for Dana</a:t>
            </a:r>
          </a:p>
        </p:txBody>
      </p:sp>
      <p:sp>
        <p:nvSpPr>
          <p:cNvPr id="5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50CD1B60-C5D7-4019-A435-C1C5A6B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62000"/>
            <a:ext cx="5715000" cy="52197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e2ee2fc934e7c"/>
          <a:stretch xmlns:a="http://schemas.openxmlformats.org/drawingml/2006/main"/>
        </p:blipFill>
        <p:spPr>
          <a:xfrm xmlns:a="http://schemas.openxmlformats.org/drawingml/2006/main">
            <a:off x="6076950" y="1693847"/>
            <a:ext cx="5372100" cy="3356007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7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1824F815-24EA-42CF-8F23-B6CE4C4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ABC Tutoring prototype</a:t>
            </a:r>
          </a:p>
        </p:txBody>
      </p:sp>
      <p:sp>
        <p:nvSpPr>
          <p:cNvPr id="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C00BB44-9987-4B13-883B-FCBEFF5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34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96B59F85-8C03-46E8-8140-A3C177EB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Parents can request a tutor in one clear flow</a:t>
            </a:r>
          </a:p>
        </p:txBody>
      </p:sp>
      <p:sp>
        <p:nvSpPr>
          <p:cNvPr id="2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678D1D2C-ECFF-4956-8CAD-C4967F35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813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7A68"/>
          </a:solidFill>
          <a:ln xmlns:a="http://schemas.openxmlformats.org/drawingml/2006/main" w="0">
            <a:solidFill>
              <a:srgbClr val="397A68"/>
            </a:solidFill>
            <a:prstDash val="solid"/>
          </a:ln>
        </p:spPr>
      </p:sp>
      <p:sp>
        <p:nvSpPr>
          <p:cNvPr id="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E184031-C9E8-4B51-8811-9EFD2C8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81325"/>
            <a:ext cx="419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958"/>
          </a:solidFill>
          <a:ln xmlns:a="http://schemas.openxmlformats.org/drawingml/2006/main" w="0">
            <a:solidFill>
              <a:srgbClr val="E87958"/>
            </a:solidFill>
            <a:prstDash val="solid"/>
          </a:ln>
        </p:spPr>
      </p:sp>
      <p:sp>
        <p:nvSpPr>
          <p:cNvPr id="4" name="flow-card-1">
            <a:extLst xmlns:a="http://schemas.openxmlformats.org/drawingml/2006/main">
              <a:ext uri="{FF2B5EF4-FFF2-40B4-BE49-F238E27FC236}">
                <a16:creationId xmlns:a16="http://schemas.microsoft.com/office/drawing/2014/main" id="{737DCD97-BBEC-4324-A8DF-E8360782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cc9076a6d4b46"/>
          <a:stretch xmlns:a="http://schemas.openxmlformats.org/drawingml/2006/main"/>
        </p:blipFill>
        <p:spPr>
          <a:xfrm xmlns:a="http://schemas.openxmlformats.org/drawingml/2006/main">
            <a:off x="742950" y="2100693"/>
            <a:ext cx="2971800" cy="1856514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6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9746CDA6-58FC-4D64-923A-0C09031A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  Browse profiles</a:t>
            </a:r>
          </a:p>
        </p:txBody>
      </p:sp>
      <p:sp>
        <p:nvSpPr>
          <p:cNvPr id="7" name="flow-card-2">
            <a:extLst xmlns:a="http://schemas.openxmlformats.org/drawingml/2006/main">
              <a:ext uri="{FF2B5EF4-FFF2-40B4-BE49-F238E27FC236}">
                <a16:creationId xmlns:a16="http://schemas.microsoft.com/office/drawing/2014/main" id="{79C1633D-1BC4-4B27-9C8B-85D004EC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f16e1f93c4c49"/>
          <a:stretch xmlns:a="http://schemas.openxmlformats.org/drawingml/2006/main"/>
        </p:blipFill>
        <p:spPr>
          <a:xfrm xmlns:a="http://schemas.openxmlformats.org/drawingml/2006/main">
            <a:off x="4610100" y="2100404"/>
            <a:ext cx="2971800" cy="1857091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213B61D0-45B8-42C9-902C-5E3F229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  Choose a time</a:t>
            </a:r>
          </a:p>
        </p:txBody>
      </p:sp>
      <p:sp>
        <p:nvSpPr>
          <p:cNvPr id="10" name="flow-card-3">
            <a:extLst xmlns:a="http://schemas.openxmlformats.org/drawingml/2006/main">
              <a:ext uri="{FF2B5EF4-FFF2-40B4-BE49-F238E27FC236}">
                <a16:creationId xmlns:a16="http://schemas.microsoft.com/office/drawing/2014/main" id="{6479060A-0D87-4FF6-819F-81F4314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12e1d009941e3"/>
          <a:stretch xmlns:a="http://schemas.openxmlformats.org/drawingml/2006/main"/>
        </p:blipFill>
        <p:spPr>
          <a:xfrm xmlns:a="http://schemas.openxmlformats.org/drawingml/2006/main">
            <a:off x="8477250" y="2100404"/>
            <a:ext cx="2971800" cy="1857091"/>
          </a:xfrm>
          <a:prstGeom xmlns:a="http://schemas.openxmlformats.org/drawingml/2006/main" prst="roundRect">
            <a:avLst>
              <a:gd name="adj" fmla="val 3896"/>
            </a:avLst>
          </a:prstGeom>
        </p:spPr>
      </p:pic>
      <p:sp>
        <p:nvSpPr>
          <p:cNvPr id="12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A188F4B9-4A7F-4550-A6F2-5E6F9811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14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9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58"/>
                </a:solidFill>
                <a:latin typeface="Arial"/>
                <a:ea typeface="Arial"/>
                <a:cs typeface="Arial"/>
              </a:rPr>
              <a:t>3  Request sent</a:t>
            </a:r>
          </a:p>
        </p:txBody>
      </p:sp>
      <p:sp>
        <p:nvSpPr>
          <p:cNvPr id="13" name="flow-privacy-pill">
            <a:extLst xmlns:a="http://schemas.openxmlformats.org/drawingml/2006/main">
              <a:ext uri="{FF2B5EF4-FFF2-40B4-BE49-F238E27FC236}">
                <a16:creationId xmlns:a16="http://schemas.microsoft.com/office/drawing/2014/main" id="{63571023-1685-4E37-A952-FF050F09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19750"/>
            <a:ext cx="48387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E9F2EC"/>
            </a:solidFill>
            <a:prstDash val="solid"/>
          </a:ln>
        </p:spPr>
      </p:sp>
      <p:sp>
        <p:nvSpPr>
          <p:cNvPr id="14" name="flow-privacy">
            <a:extLst xmlns:a="http://schemas.openxmlformats.org/drawingml/2006/main">
              <a:ext uri="{FF2B5EF4-FFF2-40B4-BE49-F238E27FC236}">
                <a16:creationId xmlns:a16="http://schemas.microsoft.com/office/drawing/2014/main" id="{8D5F042C-B4D0-4003-B988-DAC13CE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150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A68"/>
                </a:solidFill>
                <a:latin typeface="Arial"/>
                <a:ea typeface="Arial"/>
                <a:cs typeface="Arial"/>
              </a:rPr>
              <a:t>Private family details are never sent to analytics.</a:t>
            </a:r>
          </a:p>
        </p:txBody>
      </p:sp>
      <p:sp>
        <p:nvSpPr>
          <p:cNvPr id="15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C945D565-6C37-4AA4-ACD5-CCC81396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ABC Tutoring prototype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807AE9A-F035-43F1-B3F8-613DA7E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9136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ync-title">
            <a:extLst xmlns:a="http://schemas.openxmlformats.org/drawingml/2006/main">
              <a:ext uri="{FF2B5EF4-FFF2-40B4-BE49-F238E27FC236}">
                <a16:creationId xmlns:a16="http://schemas.microsoft.com/office/drawing/2014/main" id="{B275B70D-6884-4D07-BDFB-3BF0503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One request, two automatic updates</a:t>
            </a:r>
          </a:p>
        </p:txBody>
      </p:sp>
      <p:sp>
        <p:nvSpPr>
          <p:cNvPr id="2" name="sync-before-label">
            <a:extLst xmlns:a="http://schemas.openxmlformats.org/drawingml/2006/main">
              <a:ext uri="{FF2B5EF4-FFF2-40B4-BE49-F238E27FC236}">
                <a16:creationId xmlns:a16="http://schemas.microsoft.com/office/drawing/2014/main" id="{CD297B28-009E-421E-9FCC-93CB082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spc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1125" b="1" spc="1">
                <a:solidFill>
                  <a:srgbClr val="397A68"/>
                </a:solidFill>
                <a:latin typeface="Arial"/>
                <a:ea typeface="Arial"/>
                <a:cs typeface="Arial"/>
              </a:rPr>
              <a:t>BEFORE  /  OPEN TIME</a:t>
            </a:r>
          </a:p>
        </p:txBody>
      </p:sp>
      <p:sp>
        <p:nvSpPr>
          <p:cNvPr id="3" name="sync-after-label">
            <a:extLst xmlns:a="http://schemas.openxmlformats.org/drawingml/2006/main">
              <a:ext uri="{FF2B5EF4-FFF2-40B4-BE49-F238E27FC236}">
                <a16:creationId xmlns:a16="http://schemas.microsoft.com/office/drawing/2014/main" id="{DF77A15F-79E7-4978-9A99-AC30E15F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spc="1">
                <a:solidFill>
                  <a:srgbClr val="E87958"/>
                </a:solidFill>
                <a:latin typeface="Arial"/>
                <a:ea typeface="Arial"/>
                <a:cs typeface="Arial"/>
              </a:defRPr>
            </a:pPr>
            <a:r>
              <a:rPr sz="1125" b="1" spc="1">
                <a:solidFill>
                  <a:srgbClr val="E87958"/>
                </a:solidFill>
                <a:latin typeface="Arial"/>
                <a:ea typeface="Arial"/>
                <a:cs typeface="Arial"/>
              </a:rPr>
              <a:t>AFTER  /  TIME CLOSED</a:t>
            </a:r>
          </a:p>
        </p:txBody>
      </p:sp>
      <p:sp>
        <p:nvSpPr>
          <p:cNvPr id="4" name="sync-arrow">
            <a:extLst xmlns:a="http://schemas.openxmlformats.org/drawingml/2006/main">
              <a:ext uri="{FF2B5EF4-FFF2-40B4-BE49-F238E27FC236}">
                <a16:creationId xmlns:a16="http://schemas.microsoft.com/office/drawing/2014/main" id="{F3567000-8770-4DD1-9BDF-5D210CE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90875"/>
            <a:ext cx="6477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7958"/>
          </a:solidFill>
          <a:ln xmlns:a="http://schemas.openxmlformats.org/drawingml/2006/main" w="0">
            <a:solidFill>
              <a:srgbClr val="E87958"/>
            </a:solidFill>
            <a:prstDash val="solid"/>
          </a:ln>
        </p:spPr>
      </p:sp>
      <p:sp>
        <p:nvSpPr>
          <p:cNvPr id="5" name="sync-before-backing">
            <a:extLst xmlns:a="http://schemas.openxmlformats.org/drawingml/2006/main">
              <a:ext uri="{FF2B5EF4-FFF2-40B4-BE49-F238E27FC236}">
                <a16:creationId xmlns:a16="http://schemas.microsoft.com/office/drawing/2014/main" id="{A88F892A-CFBA-442F-A6C5-FE8A0C28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9530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51d3b2beb4bb9"/>
          <a:stretch xmlns:a="http://schemas.openxmlformats.org/drawingml/2006/main"/>
        </p:blipFill>
        <p:spPr>
          <a:xfrm xmlns:a="http://schemas.openxmlformats.org/drawingml/2006/main">
            <a:off x="742950" y="2012380"/>
            <a:ext cx="4686300" cy="2928490"/>
          </a:xfrm>
          <a:prstGeom xmlns:a="http://schemas.openxmlformats.org/drawingml/2006/main" prst="roundRect">
            <a:avLst>
              <a:gd name="adj" fmla="val 4469"/>
            </a:avLst>
          </a:prstGeom>
        </p:spPr>
      </p:pic>
      <p:sp>
        <p:nvSpPr>
          <p:cNvPr id="7" name="sync-after-backing">
            <a:extLst xmlns:a="http://schemas.openxmlformats.org/drawingml/2006/main">
              <a:ext uri="{FF2B5EF4-FFF2-40B4-BE49-F238E27FC236}">
                <a16:creationId xmlns:a16="http://schemas.microsoft.com/office/drawing/2014/main" id="{91DC7823-ACF9-4D33-AACF-8C55FE20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9530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ba74ff4ce4db8"/>
          <a:stretch xmlns:a="http://schemas.openxmlformats.org/drawingml/2006/main"/>
        </p:blipFill>
        <p:spPr>
          <a:xfrm xmlns:a="http://schemas.openxmlformats.org/drawingml/2006/main">
            <a:off x="6762750" y="2012380"/>
            <a:ext cx="4686300" cy="2928490"/>
          </a:xfrm>
          <a:prstGeom xmlns:a="http://schemas.openxmlformats.org/drawingml/2006/main" prst="roundRect">
            <a:avLst>
              <a:gd name="adj" fmla="val 4469"/>
            </a:avLst>
          </a:prstGeom>
        </p:spPr>
      </p:pic>
      <p:sp>
        <p:nvSpPr>
          <p:cNvPr id="9" name="sync-before-outcome">
            <a:extLst xmlns:a="http://schemas.openxmlformats.org/drawingml/2006/main">
              <a:ext uri="{FF2B5EF4-FFF2-40B4-BE49-F238E27FC236}">
                <a16:creationId xmlns:a16="http://schemas.microsoft.com/office/drawing/2014/main" id="{DA7B4D27-0DEC-4D5C-B2DA-B4023447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7A68"/>
                </a:solidFill>
                <a:latin typeface="Arial"/>
                <a:ea typeface="Arial"/>
                <a:cs typeface="Arial"/>
              </a:rPr>
              <a:t>Schedule updates</a:t>
            </a:r>
          </a:p>
        </p:txBody>
      </p:sp>
      <p:sp>
        <p:nvSpPr>
          <p:cNvPr id="10" name="sync-after-outcome">
            <a:extLst xmlns:a="http://schemas.openxmlformats.org/drawingml/2006/main">
              <a:ext uri="{FF2B5EF4-FFF2-40B4-BE49-F238E27FC236}">
                <a16:creationId xmlns:a16="http://schemas.microsoft.com/office/drawing/2014/main" id="{ACC02027-3BB0-4728-891D-F501C7DD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24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879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7958"/>
                </a:solidFill>
                <a:latin typeface="Arial"/>
                <a:ea typeface="Arial"/>
                <a:cs typeface="Arial"/>
              </a:rPr>
              <a:t>Alert is prepared</a:t>
            </a:r>
          </a:p>
        </p:txBody>
      </p:sp>
      <p:sp>
        <p:nvSpPr>
          <p:cNvPr id="11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F318C978-A51A-4878-B502-4D348E9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Prototype: browser-based availability + notification preview</a:t>
            </a:r>
          </a:p>
        </p:txBody>
      </p:sp>
      <p:sp>
        <p:nvSpPr>
          <p:cNvPr id="12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6163BB9-FE5E-45B0-99CD-3F78449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9365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nalytics-title">
            <a:extLst xmlns:a="http://schemas.openxmlformats.org/drawingml/2006/main">
              <a:ext uri="{FF2B5EF4-FFF2-40B4-BE49-F238E27FC236}">
                <a16:creationId xmlns:a16="http://schemas.microsoft.com/office/drawing/2014/main" id="{CE24BECC-4EA0-428A-A57F-CDB104F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Dana can see which tutor interest becomes bookings</a:t>
            </a:r>
          </a:p>
        </p:txBody>
      </p:sp>
      <p:sp>
        <p:nvSpPr>
          <p:cNvPr id="2" name="analytics-eyebrow">
            <a:extLst xmlns:a="http://schemas.openxmlformats.org/drawingml/2006/main">
              <a:ext uri="{FF2B5EF4-FFF2-40B4-BE49-F238E27FC236}">
                <a16:creationId xmlns:a16="http://schemas.microsoft.com/office/drawing/2014/main" id="{89CC5A8A-BDF7-4FC5-9A06-084C3D74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975" b="1" spc="1">
                <a:solidFill>
                  <a:srgbClr val="397A68"/>
                </a:solidFill>
                <a:latin typeface="Arial"/>
                <a:ea typeface="Arial"/>
                <a:cs typeface="Arial"/>
              </a:rPr>
              <a:t>DEMO ACTIVITY  -  32 SYNTHETIC VISITS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95300" y="1657350"/>
          <a:ext xmlns:a="http://schemas.openxmlformats.org/drawingml/2006/main" cx="6096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f4aaae7c34878"/>
          </a:graphicData>
        </a:graphic>
      </p:graphicFrame>
      <p:sp>
        <p:nvSpPr>
          <p:cNvPr id="4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6F15402F-0AFF-49E7-BFFF-0D0D201E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9F2EC"/>
          </a:solidFill>
          <a:ln xmlns:a="http://schemas.openxmlformats.org/drawingml/2006/main" w="9525">
            <a:solidFill>
              <a:srgbClr val="E9F2EC"/>
            </a:solidFill>
            <a:prstDash val="solid"/>
          </a:ln>
        </p:spPr>
      </p: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2A0E8F7C-5427-440D-8FDF-5205467A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97A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E7FCA745-EDE7-4635-A956-C4C269F5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profile views</a:t>
            </a:r>
          </a:p>
        </p:txBody>
      </p:sp>
      <p:sp>
        <p:nvSpPr>
          <p:cNvPr id="7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36C70156-6B1A-44BD-A610-911D9B4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CE9E1"/>
          </a:solidFill>
          <a:ln xmlns:a="http://schemas.openxmlformats.org/drawingml/2006/main" w="9525">
            <a:solidFill>
              <a:srgbClr val="FCE9E1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70662BBA-221D-4F82-A291-376DB48F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795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795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EA085F5-E176-4399-AF0F-7F4449B7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booking starts</a:t>
            </a:r>
          </a:p>
        </p:txBody>
      </p:sp>
      <p:sp>
        <p:nvSpPr>
          <p:cNvPr id="10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2B7A187B-48C4-40EF-BF6E-E24481E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667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1EEE8"/>
          </a:solidFill>
          <a:ln xmlns:a="http://schemas.openxmlformats.org/drawingml/2006/main" w="9525">
            <a:solidFill>
              <a:srgbClr val="F1EEE8"/>
            </a:solidFill>
            <a:prstDash val="solid"/>
          </a:ln>
        </p:spPr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0D77A70-7739-4D70-9BA4-5FA1621E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97A6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97A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F40A7B8A-C32F-4324-AEB8-A0344B9A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81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booking requests</a:t>
            </a:r>
          </a:p>
        </p:txBody>
      </p:sp>
      <p:sp>
        <p:nvSpPr>
          <p:cNvPr id="13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1016F8F6-56E5-4E8C-95B7-BBF0689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Demo activity is labeled and can be filtered in PostHog</a:t>
            </a:r>
          </a:p>
        </p:txBody>
      </p:sp>
      <p:sp>
        <p:nvSpPr>
          <p:cNvPr id="1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088501A-390E-4A27-8185-C6A8A3FF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293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F707A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F70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213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2026-09-03T19:58:30.8130000Z</dcterms:created>
  <dcterms:modified xsi:type="dcterms:W3CDTF">2026-09-03T19:58:30.8130000Z</dcterms:modified>
</coreProperties>
</file>